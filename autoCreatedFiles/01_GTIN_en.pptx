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2181195"/>
            <a:ext cx="11291888" cy="684907"/>
          </a:xfrm>
          <a:prstGeom prst="rect">
            <a:avLst/>
          </a:prstGeom>
          <a:noFill/>
          <a:ln/>
        </p:spPr>
        <p:txBody>
          <a:bodyPr wrap="square" lIns="0" tIns="0" rIns="0" bIns="13258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3480" b="1" dirty="0">
                <a:solidFill>
                  <a:srgbClr val="002C6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to the GTIN</a:t>
            </a:r>
            <a:endParaRPr lang="en-US" sz="3480" dirty="0"/>
          </a:p>
        </p:txBody>
      </p:sp>
      <p:sp>
        <p:nvSpPr>
          <p:cNvPr id="3" name="Text 1"/>
          <p:cNvSpPr/>
          <p:nvPr/>
        </p:nvSpPr>
        <p:spPr>
          <a:xfrm>
            <a:off x="747713" y="3004691"/>
            <a:ext cx="6952804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Trade Item Number</a:t>
            </a:r>
            <a:pPr algn="l" indent="0" marL="0">
              <a:lnSpc>
                <a:spcPct val="125000"/>
              </a:lnSpc>
              <a:buNone/>
            </a:pPr>
            <a:endParaRPr lang="en-US" sz="2175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globally unique identification key for trade items</a:t>
            </a:r>
            <a:endParaRPr lang="en-US" sz="2175" dirty="0"/>
          </a:p>
        </p:txBody>
      </p:sp>
      <p:sp>
        <p:nvSpPr>
          <p:cNvPr id="4" name="Text 2"/>
          <p:cNvSpPr/>
          <p:nvPr/>
        </p:nvSpPr>
        <p:spPr>
          <a:xfrm>
            <a:off x="747713" y="3985766"/>
            <a:ext cx="7300444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i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GS1 Germany – Training Module 1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1813977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a GTIN?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2498675"/>
            <a:ext cx="10696575" cy="1933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lobal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rade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umber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Uniquely identifies every trade item 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worldwide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Assigned by GS1 Member Organisations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Used in: retail, logistics, healthcare, e-commerce</a:t>
            </a:r>
            <a:endParaRPr lang="en-US" sz="2175" dirty="0"/>
          </a:p>
        </p:txBody>
      </p:sp>
      <p:sp>
        <p:nvSpPr>
          <p:cNvPr id="4" name="Shape 2"/>
          <p:cNvSpPr/>
          <p:nvPr/>
        </p:nvSpPr>
        <p:spPr>
          <a:xfrm>
            <a:off x="747713" y="4584650"/>
            <a:ext cx="66675" cy="414338"/>
          </a:xfrm>
          <a:prstGeom prst="rect">
            <a:avLst/>
          </a:prstGeom>
          <a:solidFill>
            <a:srgbClr val="D1D9E0"/>
          </a:solidFill>
          <a:ln/>
        </p:spPr>
      </p:sp>
      <p:sp>
        <p:nvSpPr>
          <p:cNvPr id="5" name="Text 3"/>
          <p:cNvSpPr/>
          <p:nvPr/>
        </p:nvSpPr>
        <p:spPr>
          <a:xfrm>
            <a:off x="814388" y="4584650"/>
            <a:ext cx="10629900" cy="414338"/>
          </a:xfrm>
          <a:prstGeom prst="rect">
            <a:avLst/>
          </a:prstGeom>
          <a:noFill/>
          <a:ln/>
        </p:spPr>
        <p:txBody>
          <a:bodyPr wrap="square" lIns="276225" tIns="0" rIns="276225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GTIN is </a:t>
            </a:r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price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– it is an </a:t>
            </a:r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identity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5963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1655921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 of a GTIN-13</a:t>
            </a:r>
            <a:endParaRPr lang="en-US" sz="2828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7713" y="2409676"/>
          <a:ext cx="5076081" cy="914400"/>
        </p:xfrm>
        <a:graphic>
          <a:graphicData uri="http://schemas.openxmlformats.org/drawingml/2006/table">
            <a:tbl>
              <a:tblPr/>
              <a:tblGrid>
                <a:gridCol w="2870359"/>
                <a:gridCol w="1030129"/>
                <a:gridCol w="142017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75" b="1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Component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75" b="1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Digits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175" b="1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GS1 Company Prefix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6–12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49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4012345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Item Reference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0–6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49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77777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 Digit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175" dirty="0">
                          <a:solidFill>
                            <a:srgbClr val="1F232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49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825" marR="123825" marT="57150" marB="57150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47713" y="4669036"/>
            <a:ext cx="11231404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algn="l" indent="0" marL="0">
              <a:lnSpc>
                <a:spcPct val="130000"/>
              </a:lnSpc>
              <a:buNone/>
            </a:pPr>
            <a:r>
              <a:rPr lang="en-US" sz="1849" dirty="0">
                <a:solidFill>
                  <a:srgbClr val="1F2328"/>
                </a:solidFill>
                <a:highlight>
                  <a:srgbClr val="F0F1F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402345777775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2097345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do we encounter the GTIN?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2782044"/>
            <a:ext cx="10696575" cy="1933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🛒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Supermarket checkout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– EAN-13 barcode on every product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📦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Logistics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– GTIN-14 on shipping cartons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E-commerce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– Product identification on Amazon, Google Shopping</a:t>
            </a:r>
            <a:endParaRPr lang="en-US" sz="2175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🏥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Healthcare</a:t>
            </a:r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– Unique identification of medical devices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2255699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GTIN vs. Barcode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2940397"/>
            <a:ext cx="10696575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 that a GTIN is the </a:t>
            </a:r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Identifier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not the </a:t>
            </a:r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Carrier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pPr algn="l" indent="0" marL="0">
              <a:lnSpc>
                <a:spcPct val="130000"/>
              </a:lnSpc>
              <a:buNone/>
            </a:pPr>
            <a:endParaRPr lang="en-US" sz="2175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 you can see the GTIN encoded in an EAN-13 barcode: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1048405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GTIN in QR Codes Powered by GS1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1733104"/>
            <a:ext cx="10696575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2028, the GTIN can be embedded in a web address – giving your customers direct access to product-related information.</a:t>
            </a:r>
            <a:endParaRPr lang="en-US" sz="2175" dirty="0"/>
          </a:p>
        </p:txBody>
      </p:sp>
      <p:sp>
        <p:nvSpPr>
          <p:cNvPr id="4" name="Text 2"/>
          <p:cNvSpPr/>
          <p:nvPr/>
        </p:nvSpPr>
        <p:spPr>
          <a:xfrm>
            <a:off x="747713" y="2714179"/>
            <a:ext cx="10696575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Using the same GTIN as before: it now appears in what is called a</a:t>
            </a:r>
            <a:pPr algn="l" indent="0" marL="0">
              <a:lnSpc>
                <a:spcPct val="125000"/>
              </a:lnSpc>
              <a:buNone/>
            </a:pPr>
            <a:endParaRPr lang="en-US" sz="2175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175" i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GS1 Digital Link URI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is encoded into a QR Code:</a:t>
            </a:r>
            <a:endParaRPr lang="en-US" sz="2175" dirty="0"/>
          </a:p>
        </p:txBody>
      </p:sp>
      <p:sp>
        <p:nvSpPr>
          <p:cNvPr id="5" name="Text 3"/>
          <p:cNvSpPr/>
          <p:nvPr/>
        </p:nvSpPr>
        <p:spPr>
          <a:xfrm>
            <a:off x="747713" y="4261991"/>
            <a:ext cx="11231404" cy="414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Encoded content:</a:t>
            </a:r>
            <a:endParaRPr lang="en-US" sz="2175" dirty="0"/>
          </a:p>
        </p:txBody>
      </p:sp>
      <p:sp>
        <p:nvSpPr>
          <p:cNvPr id="6" name="Text 4"/>
          <p:cNvSpPr/>
          <p:nvPr/>
        </p:nvSpPr>
        <p:spPr>
          <a:xfrm>
            <a:off x="747713" y="4897785"/>
            <a:ext cx="10696575" cy="866775"/>
          </a:xfrm>
          <a:prstGeom prst="rect">
            <a:avLst/>
          </a:prstGeom>
          <a:solidFill>
            <a:srgbClr val="F6F8FA"/>
          </a:solidFill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283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https://id.gs1.de/01/04012345999969</a:t>
            </a:r>
            <a:pPr indent="0" marL="0">
              <a:buNone/>
            </a:pPr>
            <a:endParaRPr lang="en-US" sz="1283" dirty="0"/>
          </a:p>
          <a:p>
            <a:pPr indent="0" marL="0">
              <a:buNone/>
            </a:pPr>
            <a:endParaRPr lang="en-US" sz="128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2200930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Summary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2885629"/>
            <a:ext cx="10696575" cy="165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GTIN = globally unique trade item key</a:t>
            </a:r>
            <a:pPr algn="l" indent="0" marL="0">
              <a:lnSpc>
                <a:spcPct val="125000"/>
              </a:lnSpc>
              <a:buNone/>
            </a:pPr>
            <a:endParaRPr lang="en-US" sz="2175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Assigned via a GS1 Company Prefix</a:t>
            </a:r>
            <a:pPr algn="l" indent="0" marL="0">
              <a:lnSpc>
                <a:spcPct val="125000"/>
              </a:lnSpc>
              <a:buNone/>
            </a:pPr>
            <a:endParaRPr lang="en-US" sz="2175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Used across </a:t>
            </a:r>
            <a:pPr algn="l" indent="0" marL="0">
              <a:lnSpc>
                <a:spcPct val="125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industries and channels</a:t>
            </a:r>
            <a:pPr algn="l" indent="0" marL="0">
              <a:lnSpc>
                <a:spcPct val="125000"/>
              </a:lnSpc>
              <a:buNone/>
            </a:pPr>
            <a:endParaRPr lang="en-US" sz="2175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pPr algn="l" indent="0" marL="0">
              <a:lnSpc>
                <a:spcPct val="125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Foundation for barcodes, QR Codes and GS1 Digital Link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713" y="2539067"/>
            <a:ext cx="11291888" cy="556468"/>
          </a:xfrm>
          <a:prstGeom prst="rect">
            <a:avLst/>
          </a:prstGeom>
          <a:noFill/>
          <a:ln/>
        </p:spPr>
        <p:txBody>
          <a:bodyPr wrap="square" lIns="0" tIns="0" rIns="0" bIns="107728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2828" b="1" dirty="0">
                <a:solidFill>
                  <a:srgbClr val="F26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Module</a:t>
            </a:r>
            <a:endParaRPr lang="en-US" sz="2828" dirty="0"/>
          </a:p>
        </p:txBody>
      </p:sp>
      <p:sp>
        <p:nvSpPr>
          <p:cNvPr id="3" name="Text 1"/>
          <p:cNvSpPr/>
          <p:nvPr/>
        </p:nvSpPr>
        <p:spPr>
          <a:xfrm>
            <a:off x="747713" y="3223766"/>
            <a:ext cx="10696575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175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2:</a:t>
            </a:r>
            <a:pPr algn="l" indent="0" marL="0">
              <a:lnSpc>
                <a:spcPct val="130000"/>
              </a:lnSpc>
              <a:buNone/>
            </a:pPr>
            <a:r>
              <a:rPr lang="en-US" sz="2175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GS1 Digital Link – from barcode to URL</a:t>
            </a:r>
            <a:pPr algn="l" indent="0" marL="0">
              <a:lnSpc>
                <a:spcPct val="130000"/>
              </a:lnSpc>
              <a:buNone/>
            </a:pPr>
            <a:endParaRPr lang="en-US" sz="2175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175" i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Questions? → streaming@example.example</a:t>
            </a:r>
            <a:endParaRPr lang="en-US" sz="217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6343650"/>
            <a:ext cx="118110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350">
                <a:solidFill>
                  <a:srgbClr val="77777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2026-06-17T07:32:44Z</dcterms:created>
  <dcterms:modified xsi:type="dcterms:W3CDTF">2026-06-17T07:32:44Z</dcterms:modified>
</cp:coreProperties>
</file>