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713" y="923895"/>
            <a:ext cx="11291888" cy="684907"/>
          </a:xfrm>
          <a:prstGeom prst="rect">
            <a:avLst/>
          </a:prstGeom>
          <a:noFill/>
          <a:ln/>
        </p:spPr>
        <p:txBody>
          <a:bodyPr wrap="square" lIns="0" tIns="0" rIns="0" bIns="132588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3480" b="1" dirty="0">
                <a:solidFill>
                  <a:srgbClr val="002C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 to the GTIN</a:t>
            </a:r>
            <a:endParaRPr lang="en-US" sz="3480" dirty="0"/>
          </a:p>
        </p:txBody>
      </p:sp>
      <p:sp>
        <p:nvSpPr>
          <p:cNvPr id="3" name="Text 1"/>
          <p:cNvSpPr/>
          <p:nvPr/>
        </p:nvSpPr>
        <p:spPr>
          <a:xfrm>
            <a:off x="747713" y="1747391"/>
            <a:ext cx="6952804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75" b="1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Trade Item Number</a:t>
            </a:r>
            <a:pPr algn="l" indent="0" marL="0">
              <a:lnSpc>
                <a:spcPct val="125000"/>
              </a:lnSpc>
              <a:buNone/>
            </a:pPr>
            <a:endParaRPr lang="en-US" sz="2175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globally unique identification key for trade items</a:t>
            </a:r>
            <a:endParaRPr lang="en-US" sz="2175" dirty="0"/>
          </a:p>
        </p:txBody>
      </p:sp>
      <p:sp>
        <p:nvSpPr>
          <p:cNvPr id="4" name="Text 2"/>
          <p:cNvSpPr/>
          <p:nvPr/>
        </p:nvSpPr>
        <p:spPr>
          <a:xfrm>
            <a:off x="747713" y="2728466"/>
            <a:ext cx="7300444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75" i="1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GS1 Germany – Training Module 1</a:t>
            </a:r>
            <a:endParaRPr lang="en-US" sz="217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83798" y="1816447"/>
            <a:ext cx="2177058" cy="3810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713" y="1813977"/>
            <a:ext cx="11291888" cy="556468"/>
          </a:xfrm>
          <a:prstGeom prst="rect">
            <a:avLst/>
          </a:prstGeom>
          <a:noFill/>
          <a:ln/>
        </p:spPr>
        <p:txBody>
          <a:bodyPr wrap="square" lIns="0" tIns="0" rIns="0" bIns="107728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2828" b="1" dirty="0">
                <a:solidFill>
                  <a:srgbClr val="F263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a GTIN?</a:t>
            </a:r>
            <a:endParaRPr lang="en-US" sz="2828" dirty="0"/>
          </a:p>
        </p:txBody>
      </p:sp>
      <p:sp>
        <p:nvSpPr>
          <p:cNvPr id="3" name="Text 1"/>
          <p:cNvSpPr/>
          <p:nvPr/>
        </p:nvSpPr>
        <p:spPr>
          <a:xfrm>
            <a:off x="747713" y="2498675"/>
            <a:ext cx="10696575" cy="1933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b="1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lobal 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b="1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rade 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b="1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 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b="1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umber</a:t>
            </a:r>
            <a:endParaRPr lang="en-US" sz="2175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Uniquely identifies every trade item 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b="1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worldwide</a:t>
            </a:r>
            <a:endParaRPr lang="en-US" sz="2175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Assigned by GS1 Member Organisations</a:t>
            </a:r>
            <a:endParaRPr lang="en-US" sz="2175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Used in: retail, logistics, healthcare, e-commerce</a:t>
            </a:r>
            <a:endParaRPr lang="en-US" sz="2175" dirty="0"/>
          </a:p>
        </p:txBody>
      </p:sp>
      <p:sp>
        <p:nvSpPr>
          <p:cNvPr id="4" name="Shape 2"/>
          <p:cNvSpPr/>
          <p:nvPr/>
        </p:nvSpPr>
        <p:spPr>
          <a:xfrm>
            <a:off x="747713" y="4584650"/>
            <a:ext cx="66675" cy="414338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5" name="Text 3"/>
          <p:cNvSpPr/>
          <p:nvPr/>
        </p:nvSpPr>
        <p:spPr>
          <a:xfrm>
            <a:off x="814388" y="4584650"/>
            <a:ext cx="10629900" cy="414338"/>
          </a:xfrm>
          <a:prstGeom prst="rect">
            <a:avLst/>
          </a:prstGeom>
          <a:noFill/>
          <a:ln/>
        </p:spPr>
        <p:txBody>
          <a:bodyPr wrap="square" lIns="276225" tIns="0" rIns="276225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75" dirty="0">
                <a:solidFill>
                  <a:srgbClr val="5963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</a:t>
            </a:r>
            <a:pPr algn="l" indent="0" marL="0">
              <a:lnSpc>
                <a:spcPct val="130000"/>
              </a:lnSpc>
              <a:buNone/>
            </a:pPr>
            <a:r>
              <a:rPr lang="en-US" sz="2175" dirty="0">
                <a:solidFill>
                  <a:srgbClr val="5963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GTIN is </a:t>
            </a:r>
            <a:pPr algn="l" indent="0" marL="0">
              <a:lnSpc>
                <a:spcPct val="130000"/>
              </a:lnSpc>
              <a:buNone/>
            </a:pPr>
            <a:r>
              <a:rPr lang="en-US" sz="2175" b="1" dirty="0">
                <a:solidFill>
                  <a:srgbClr val="5963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a price</a:t>
            </a:r>
            <a:pPr algn="l" indent="0" marL="0">
              <a:lnSpc>
                <a:spcPct val="130000"/>
              </a:lnSpc>
              <a:buNone/>
            </a:pPr>
            <a:r>
              <a:rPr lang="en-US" sz="2175" dirty="0">
                <a:solidFill>
                  <a:srgbClr val="5963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– it is an </a:t>
            </a:r>
            <a:pPr algn="l" indent="0" marL="0">
              <a:lnSpc>
                <a:spcPct val="130000"/>
              </a:lnSpc>
              <a:buNone/>
            </a:pPr>
            <a:r>
              <a:rPr lang="en-US" sz="2175" b="1" dirty="0">
                <a:solidFill>
                  <a:srgbClr val="5963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</a:t>
            </a:r>
            <a:pPr algn="l" indent="0" marL="0">
              <a:lnSpc>
                <a:spcPct val="130000"/>
              </a:lnSpc>
              <a:buNone/>
            </a:pPr>
            <a:r>
              <a:rPr lang="en-US" sz="2175" dirty="0">
                <a:solidFill>
                  <a:srgbClr val="5963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21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713" y="1655921"/>
            <a:ext cx="11291888" cy="556468"/>
          </a:xfrm>
          <a:prstGeom prst="rect">
            <a:avLst/>
          </a:prstGeom>
          <a:noFill/>
          <a:ln/>
        </p:spPr>
        <p:txBody>
          <a:bodyPr wrap="square" lIns="0" tIns="0" rIns="0" bIns="107728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2828" b="1" dirty="0">
                <a:solidFill>
                  <a:srgbClr val="F263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 of a GTIN-13</a:t>
            </a:r>
            <a:endParaRPr lang="en-US" sz="2828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7713" y="2409676"/>
          <a:ext cx="5076081" cy="914400"/>
        </p:xfrm>
        <a:graphic>
          <a:graphicData uri="http://schemas.openxmlformats.org/drawingml/2006/table">
            <a:tbl>
              <a:tblPr/>
              <a:tblGrid>
                <a:gridCol w="2870359"/>
                <a:gridCol w="1030129"/>
                <a:gridCol w="1420177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75" b="1" dirty="0">
                          <a:solidFill>
                            <a:srgbClr val="1F23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Component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75" b="1" dirty="0">
                          <a:solidFill>
                            <a:srgbClr val="1F23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Digits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75" b="1" dirty="0">
                          <a:solidFill>
                            <a:srgbClr val="1F23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Example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75" dirty="0">
                          <a:solidFill>
                            <a:srgbClr val="1F23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GS1 Company Prefix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75" dirty="0">
                          <a:solidFill>
                            <a:srgbClr val="1F23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6–12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49" dirty="0">
                          <a:solidFill>
                            <a:srgbClr val="1F2328"/>
                          </a:solidFill>
                          <a:highlight>
                            <a:srgbClr val="F0F1F3"/>
                          </a:highlight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4012345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75" dirty="0">
                          <a:solidFill>
                            <a:srgbClr val="1F23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Item Reference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75" dirty="0">
                          <a:solidFill>
                            <a:srgbClr val="1F23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0–6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49" dirty="0">
                          <a:solidFill>
                            <a:srgbClr val="1F2328"/>
                          </a:solidFill>
                          <a:highlight>
                            <a:srgbClr val="E8EBEE"/>
                          </a:highlight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77777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75" dirty="0">
                          <a:solidFill>
                            <a:srgbClr val="1F23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Check Digit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75" dirty="0">
                          <a:solidFill>
                            <a:srgbClr val="1F232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49" dirty="0">
                          <a:solidFill>
                            <a:srgbClr val="1F2328"/>
                          </a:solidFill>
                          <a:highlight>
                            <a:srgbClr val="F0F1F3"/>
                          </a:highlight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47713" y="4669036"/>
            <a:ext cx="11231404" cy="418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75" b="1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Result:</a:t>
            </a:r>
            <a:pPr algn="l" indent="0" marL="0">
              <a:lnSpc>
                <a:spcPct val="130000"/>
              </a:lnSpc>
              <a:buNone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pPr algn="l" indent="0" marL="0">
              <a:lnSpc>
                <a:spcPct val="130000"/>
              </a:lnSpc>
              <a:buNone/>
            </a:pPr>
            <a:r>
              <a:rPr lang="en-US" sz="1849" dirty="0">
                <a:solidFill>
                  <a:srgbClr val="1F2328"/>
                </a:solidFill>
                <a:highlight>
                  <a:srgbClr val="F0F1F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402345777775</a:t>
            </a:r>
            <a:endParaRPr lang="en-US" sz="21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713" y="2097345"/>
            <a:ext cx="11291888" cy="556468"/>
          </a:xfrm>
          <a:prstGeom prst="rect">
            <a:avLst/>
          </a:prstGeom>
          <a:noFill/>
          <a:ln/>
        </p:spPr>
        <p:txBody>
          <a:bodyPr wrap="square" lIns="0" tIns="0" rIns="0" bIns="107728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2828" b="1" dirty="0">
                <a:solidFill>
                  <a:srgbClr val="F263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do we encounter the GTIN?</a:t>
            </a:r>
            <a:endParaRPr lang="en-US" sz="2828" dirty="0"/>
          </a:p>
        </p:txBody>
      </p:sp>
      <p:sp>
        <p:nvSpPr>
          <p:cNvPr id="3" name="Text 1"/>
          <p:cNvSpPr/>
          <p:nvPr/>
        </p:nvSpPr>
        <p:spPr>
          <a:xfrm>
            <a:off x="747713" y="2782044"/>
            <a:ext cx="10696575" cy="1933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🛒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b="1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Supermarket checkout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– EAN-13 barcode on every product</a:t>
            </a:r>
            <a:endParaRPr lang="en-US" sz="2175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b="1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Logistics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– GTIN-14 on shipping cartons</a:t>
            </a:r>
            <a:endParaRPr lang="en-US" sz="2175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b="1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E-commerce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– Product identification on Amazon, Google Shopping</a:t>
            </a:r>
            <a:endParaRPr lang="en-US" sz="2175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🏥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b="1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Healthcare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– Unique identification of medical devices</a:t>
            </a:r>
            <a:endParaRPr lang="en-US" sz="21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713" y="1698486"/>
            <a:ext cx="11291888" cy="556468"/>
          </a:xfrm>
          <a:prstGeom prst="rect">
            <a:avLst/>
          </a:prstGeom>
          <a:noFill/>
          <a:ln/>
        </p:spPr>
        <p:txBody>
          <a:bodyPr wrap="square" lIns="0" tIns="0" rIns="0" bIns="107728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2828" b="1" dirty="0">
                <a:solidFill>
                  <a:srgbClr val="F263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GTIN vs. Barcode</a:t>
            </a:r>
            <a:endParaRPr lang="en-US" sz="2828" dirty="0"/>
          </a:p>
        </p:txBody>
      </p:sp>
      <p:sp>
        <p:nvSpPr>
          <p:cNvPr id="3" name="Text 1"/>
          <p:cNvSpPr/>
          <p:nvPr/>
        </p:nvSpPr>
        <p:spPr>
          <a:xfrm>
            <a:off x="747713" y="2383185"/>
            <a:ext cx="10696575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 that a GTIN is the </a:t>
            </a:r>
            <a:pPr algn="l" indent="0" marL="0">
              <a:lnSpc>
                <a:spcPct val="130000"/>
              </a:lnSpc>
              <a:buNone/>
            </a:pPr>
            <a:r>
              <a:rPr lang="en-US" sz="2175" b="1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Identifier</a:t>
            </a:r>
            <a:pPr algn="l" indent="0" marL="0">
              <a:lnSpc>
                <a:spcPct val="130000"/>
              </a:lnSpc>
              <a:buNone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not the </a:t>
            </a:r>
            <a:pPr algn="l" indent="0" marL="0">
              <a:lnSpc>
                <a:spcPct val="130000"/>
              </a:lnSpc>
              <a:buNone/>
            </a:pPr>
            <a:r>
              <a:rPr lang="en-US" sz="2175" b="1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Carrier</a:t>
            </a:r>
            <a:pPr algn="l" indent="0" marL="0">
              <a:lnSpc>
                <a:spcPct val="130000"/>
              </a:lnSpc>
              <a:buNone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pPr algn="l" indent="0" marL="0">
              <a:lnSpc>
                <a:spcPct val="130000"/>
              </a:lnSpc>
              <a:buNone/>
            </a:pPr>
            <a:endParaRPr lang="en-US" sz="2175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Here you can see the GTIN encoded in an EAN-13 barcode:</a:t>
            </a:r>
            <a:endParaRPr lang="en-US" sz="217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713" y="3585716"/>
            <a:ext cx="2740372" cy="142875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713" y="729317"/>
            <a:ext cx="11291888" cy="556468"/>
          </a:xfrm>
          <a:prstGeom prst="rect">
            <a:avLst/>
          </a:prstGeom>
          <a:noFill/>
          <a:ln/>
        </p:spPr>
        <p:txBody>
          <a:bodyPr wrap="square" lIns="0" tIns="0" rIns="0" bIns="107728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2828" b="1" dirty="0">
                <a:solidFill>
                  <a:srgbClr val="F263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GTIN in QR Codes Powered by GS1</a:t>
            </a:r>
            <a:endParaRPr lang="en-US" sz="2828" dirty="0"/>
          </a:p>
        </p:txBody>
      </p:sp>
      <p:sp>
        <p:nvSpPr>
          <p:cNvPr id="3" name="Text 1"/>
          <p:cNvSpPr/>
          <p:nvPr/>
        </p:nvSpPr>
        <p:spPr>
          <a:xfrm>
            <a:off x="747713" y="1414016"/>
            <a:ext cx="10696575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2028, the GTIN can be embedded in a web address – giving your customers direct access to product-related information.</a:t>
            </a:r>
            <a:endParaRPr lang="en-US" sz="2175" dirty="0"/>
          </a:p>
        </p:txBody>
      </p:sp>
      <p:sp>
        <p:nvSpPr>
          <p:cNvPr id="4" name="Text 2"/>
          <p:cNvSpPr/>
          <p:nvPr/>
        </p:nvSpPr>
        <p:spPr>
          <a:xfrm>
            <a:off x="747713" y="2395091"/>
            <a:ext cx="10696575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Using the same GTIN as before: it now appears in what is called a</a:t>
            </a:r>
            <a:pPr algn="l" indent="0" marL="0">
              <a:lnSpc>
                <a:spcPct val="125000"/>
              </a:lnSpc>
              <a:buNone/>
            </a:pPr>
            <a:endParaRPr lang="en-US" sz="2175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75" i="1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GS1 Digital Link URI</a:t>
            </a:r>
            <a:pPr algn="l" indent="0" marL="0">
              <a:lnSpc>
                <a:spcPct val="125000"/>
              </a:lnSpc>
              <a:buNone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is encoded into a QR Code:</a:t>
            </a:r>
            <a:endParaRPr lang="en-US" sz="217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713" y="3445222"/>
            <a:ext cx="952500" cy="952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7713" y="4581079"/>
            <a:ext cx="11231404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Encoded content:</a:t>
            </a:r>
            <a:endParaRPr lang="en-US" sz="2175" dirty="0"/>
          </a:p>
        </p:txBody>
      </p:sp>
      <p:sp>
        <p:nvSpPr>
          <p:cNvPr id="7" name="Text 4"/>
          <p:cNvSpPr/>
          <p:nvPr/>
        </p:nvSpPr>
        <p:spPr>
          <a:xfrm>
            <a:off x="747713" y="5216872"/>
            <a:ext cx="10696575" cy="866775"/>
          </a:xfrm>
          <a:prstGeom prst="rect">
            <a:avLst/>
          </a:prstGeom>
          <a:solidFill>
            <a:srgbClr val="F6F8FA"/>
          </a:solidFill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283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https://id.gs1.de/01/04012345999969</a:t>
            </a:r>
            <a:pPr indent="0" marL="0">
              <a:buNone/>
            </a:pPr>
            <a:endParaRPr lang="en-US" sz="1283" dirty="0"/>
          </a:p>
          <a:p>
            <a:pPr indent="0" marL="0">
              <a:buNone/>
            </a:pPr>
            <a:endParaRPr lang="en-US" sz="1283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713" y="2200930"/>
            <a:ext cx="11291888" cy="556468"/>
          </a:xfrm>
          <a:prstGeom prst="rect">
            <a:avLst/>
          </a:prstGeom>
          <a:noFill/>
          <a:ln/>
        </p:spPr>
        <p:txBody>
          <a:bodyPr wrap="square" lIns="0" tIns="0" rIns="0" bIns="107728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2828" b="1" dirty="0">
                <a:solidFill>
                  <a:srgbClr val="F263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</a:t>
            </a:r>
            <a:endParaRPr lang="en-US" sz="2828" dirty="0"/>
          </a:p>
        </p:txBody>
      </p:sp>
      <p:sp>
        <p:nvSpPr>
          <p:cNvPr id="3" name="Text 1"/>
          <p:cNvSpPr/>
          <p:nvPr/>
        </p:nvSpPr>
        <p:spPr>
          <a:xfrm>
            <a:off x="747713" y="2885629"/>
            <a:ext cx="10696575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pPr algn="l" indent="0" marL="0">
              <a:lnSpc>
                <a:spcPct val="125000"/>
              </a:lnSpc>
              <a:buNone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GTIN = globally unique trade item key</a:t>
            </a:r>
            <a:pPr algn="l" indent="0" marL="0">
              <a:lnSpc>
                <a:spcPct val="125000"/>
              </a:lnSpc>
              <a:buNone/>
            </a:pPr>
            <a:endParaRPr lang="en-US" sz="2175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pPr algn="l" indent="0" marL="0">
              <a:lnSpc>
                <a:spcPct val="125000"/>
              </a:lnSpc>
              <a:buNone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Assigned via a GS1 Company Prefix</a:t>
            </a:r>
            <a:pPr algn="l" indent="0" marL="0">
              <a:lnSpc>
                <a:spcPct val="125000"/>
              </a:lnSpc>
              <a:buNone/>
            </a:pPr>
            <a:endParaRPr lang="en-US" sz="2175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pPr algn="l" indent="0" marL="0">
              <a:lnSpc>
                <a:spcPct val="125000"/>
              </a:lnSpc>
              <a:buNone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Used across </a:t>
            </a:r>
            <a:pPr algn="l" indent="0" marL="0">
              <a:lnSpc>
                <a:spcPct val="125000"/>
              </a:lnSpc>
              <a:buNone/>
            </a:pPr>
            <a:r>
              <a:rPr lang="en-US" sz="2175" b="1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</a:t>
            </a:r>
            <a:pPr algn="l" indent="0" marL="0">
              <a:lnSpc>
                <a:spcPct val="125000"/>
              </a:lnSpc>
              <a:buNone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industries and channels</a:t>
            </a:r>
            <a:pPr algn="l" indent="0" marL="0">
              <a:lnSpc>
                <a:spcPct val="125000"/>
              </a:lnSpc>
              <a:buNone/>
            </a:pPr>
            <a:endParaRPr lang="en-US" sz="2175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pPr algn="l" indent="0" marL="0">
              <a:lnSpc>
                <a:spcPct val="125000"/>
              </a:lnSpc>
              <a:buNone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Foundation for barcodes, QR Codes and GS1 Digital Link</a:t>
            </a:r>
            <a:endParaRPr lang="en-US" sz="21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713" y="2539067"/>
            <a:ext cx="11291888" cy="556468"/>
          </a:xfrm>
          <a:prstGeom prst="rect">
            <a:avLst/>
          </a:prstGeom>
          <a:noFill/>
          <a:ln/>
        </p:spPr>
        <p:txBody>
          <a:bodyPr wrap="square" lIns="0" tIns="0" rIns="0" bIns="107728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2828" b="1" dirty="0">
                <a:solidFill>
                  <a:srgbClr val="F263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Module</a:t>
            </a:r>
            <a:endParaRPr lang="en-US" sz="2828" dirty="0"/>
          </a:p>
        </p:txBody>
      </p:sp>
      <p:sp>
        <p:nvSpPr>
          <p:cNvPr id="3" name="Text 1"/>
          <p:cNvSpPr/>
          <p:nvPr/>
        </p:nvSpPr>
        <p:spPr>
          <a:xfrm>
            <a:off x="747713" y="3223766"/>
            <a:ext cx="10696575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75" b="1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2:</a:t>
            </a:r>
            <a:pPr algn="l" indent="0" marL="0">
              <a:lnSpc>
                <a:spcPct val="130000"/>
              </a:lnSpc>
              <a:buNone/>
            </a:pPr>
            <a:r>
              <a:rPr lang="en-US" sz="2175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GS1 Digital Link – from barcode to URL</a:t>
            </a:r>
            <a:pPr algn="l" indent="0" marL="0">
              <a:lnSpc>
                <a:spcPct val="130000"/>
              </a:lnSpc>
              <a:buNone/>
            </a:pPr>
            <a:endParaRPr lang="en-US" sz="2175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175" i="1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Questions? → streaming@example.example</a:t>
            </a:r>
            <a:endParaRPr lang="en-US" sz="21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2026-06-18T08:04:53Z</dcterms:created>
  <dcterms:modified xsi:type="dcterms:W3CDTF">2026-06-18T08:04:53Z</dcterms:modified>
</cp:coreProperties>
</file>