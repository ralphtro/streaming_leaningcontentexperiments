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6343650"/>
            <a:ext cx="118110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350">
                <a:solidFill>
                  <a:srgbClr val="7777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6343650"/>
            <a:ext cx="118110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350">
                <a:solidFill>
                  <a:srgbClr val="7777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7713" y="923895"/>
            <a:ext cx="11291888" cy="684907"/>
          </a:xfrm>
          <a:prstGeom prst="rect">
            <a:avLst/>
          </a:prstGeom>
          <a:noFill/>
          <a:ln/>
        </p:spPr>
        <p:txBody>
          <a:bodyPr wrap="square" lIns="0" tIns="0" rIns="0" bIns="132588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3480" b="1" dirty="0">
                <a:solidFill>
                  <a:srgbClr val="002C6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Einführung in die GTIN</a:t>
            </a:r>
            <a:endParaRPr lang="en-US" sz="3480" dirty="0"/>
          </a:p>
        </p:txBody>
      </p:sp>
      <p:sp>
        <p:nvSpPr>
          <p:cNvPr id="3" name="Text 1"/>
          <p:cNvSpPr/>
          <p:nvPr/>
        </p:nvSpPr>
        <p:spPr>
          <a:xfrm>
            <a:off x="747713" y="1747391"/>
            <a:ext cx="6952804" cy="1243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75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Global Trade Item Number</a:t>
            </a:r>
            <a:pPr algn="l" indent="0" marL="0">
              <a:lnSpc>
                <a:spcPct val="125000"/>
              </a:lnSpc>
              <a:buNone/>
            </a:pPr>
            <a:endParaRPr lang="en-US" sz="2175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Der weltweit eindeutige Identifikationsschlüssel für Handelsartikel</a:t>
            </a:r>
            <a:endParaRPr lang="en-US" sz="2175" dirty="0"/>
          </a:p>
        </p:txBody>
      </p:sp>
      <p:sp>
        <p:nvSpPr>
          <p:cNvPr id="4" name="Text 2"/>
          <p:cNvSpPr/>
          <p:nvPr/>
        </p:nvSpPr>
        <p:spPr>
          <a:xfrm>
            <a:off x="747713" y="3142804"/>
            <a:ext cx="7300444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175" i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GS1 Germany – Schulungsmodul 1</a:t>
            </a:r>
            <a:endParaRPr lang="en-US" sz="2175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83798" y="1816447"/>
            <a:ext cx="2177058" cy="3810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6343650"/>
            <a:ext cx="118110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350">
                <a:solidFill>
                  <a:srgbClr val="7777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7713" y="1813977"/>
            <a:ext cx="11291888" cy="556468"/>
          </a:xfrm>
          <a:prstGeom prst="rect">
            <a:avLst/>
          </a:prstGeom>
          <a:noFill/>
          <a:ln/>
        </p:spPr>
        <p:txBody>
          <a:bodyPr wrap="square" lIns="0" tIns="0" rIns="0" bIns="107728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2828" b="1" dirty="0">
                <a:solidFill>
                  <a:srgbClr val="F263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Was ist eine GTIN?</a:t>
            </a:r>
            <a:endParaRPr lang="en-US" sz="2828" dirty="0"/>
          </a:p>
        </p:txBody>
      </p:sp>
      <p:sp>
        <p:nvSpPr>
          <p:cNvPr id="3" name="Text 1"/>
          <p:cNvSpPr/>
          <p:nvPr/>
        </p:nvSpPr>
        <p:spPr>
          <a:xfrm>
            <a:off x="747713" y="2498675"/>
            <a:ext cx="10696575" cy="1933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lobal 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rade 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 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umber</a:t>
            </a:r>
            <a:endParaRPr lang="en-US" sz="2175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Identifiziert jedes Handelsartikel 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weltweit eindeutig</a:t>
            </a:r>
            <a:endParaRPr lang="en-US" sz="2175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Vergeben von GS1-Mitgliedsorganisationen</a:t>
            </a:r>
            <a:endParaRPr lang="en-US" sz="2175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Anwendung: Handel, Logistik, Gesundheitswesen, E-Commerce</a:t>
            </a:r>
            <a:endParaRPr lang="en-US" sz="2175" dirty="0"/>
          </a:p>
        </p:txBody>
      </p:sp>
      <p:sp>
        <p:nvSpPr>
          <p:cNvPr id="4" name="Shape 2"/>
          <p:cNvSpPr/>
          <p:nvPr/>
        </p:nvSpPr>
        <p:spPr>
          <a:xfrm>
            <a:off x="747713" y="4584650"/>
            <a:ext cx="66675" cy="414338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5" name="Text 3"/>
          <p:cNvSpPr/>
          <p:nvPr/>
        </p:nvSpPr>
        <p:spPr>
          <a:xfrm>
            <a:off x="814388" y="4584650"/>
            <a:ext cx="10629900" cy="414338"/>
          </a:xfrm>
          <a:prstGeom prst="rect">
            <a:avLst/>
          </a:prstGeom>
          <a:noFill/>
          <a:ln/>
        </p:spPr>
        <p:txBody>
          <a:bodyPr wrap="square" lIns="276225" tIns="0" rIns="276225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175" dirty="0">
                <a:solidFill>
                  <a:srgbClr val="5963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💡</a:t>
            </a:r>
            <a:pPr algn="l" indent="0" marL="0">
              <a:lnSpc>
                <a:spcPct val="130000"/>
              </a:lnSpc>
              <a:buNone/>
            </a:pPr>
            <a:r>
              <a:rPr lang="en-US" sz="2175" dirty="0">
                <a:solidFill>
                  <a:srgbClr val="5963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Eine GTIN ist </a:t>
            </a:r>
            <a:pPr algn="l" indent="0" marL="0">
              <a:lnSpc>
                <a:spcPct val="130000"/>
              </a:lnSpc>
              <a:buNone/>
            </a:pPr>
            <a:r>
              <a:rPr lang="en-US" sz="2175" b="1" dirty="0">
                <a:solidFill>
                  <a:srgbClr val="5963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kein Preis</a:t>
            </a:r>
            <a:pPr algn="l" indent="0" marL="0">
              <a:lnSpc>
                <a:spcPct val="130000"/>
              </a:lnSpc>
              <a:buNone/>
            </a:pPr>
            <a:r>
              <a:rPr lang="en-US" sz="2175" dirty="0">
                <a:solidFill>
                  <a:srgbClr val="5963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sondern eine </a:t>
            </a:r>
            <a:pPr algn="l" indent="0" marL="0">
              <a:lnSpc>
                <a:spcPct val="130000"/>
              </a:lnSpc>
              <a:buNone/>
            </a:pPr>
            <a:r>
              <a:rPr lang="en-US" sz="2175" b="1" dirty="0">
                <a:solidFill>
                  <a:srgbClr val="5963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Identität</a:t>
            </a:r>
            <a:pPr algn="l" indent="0" marL="0">
              <a:lnSpc>
                <a:spcPct val="130000"/>
              </a:lnSpc>
              <a:buNone/>
            </a:pPr>
            <a:r>
              <a:rPr lang="en-US" sz="2175" dirty="0">
                <a:solidFill>
                  <a:srgbClr val="5963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217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6343650"/>
            <a:ext cx="118110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350">
                <a:solidFill>
                  <a:srgbClr val="7777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7713" y="1655921"/>
            <a:ext cx="11291888" cy="556468"/>
          </a:xfrm>
          <a:prstGeom prst="rect">
            <a:avLst/>
          </a:prstGeom>
          <a:noFill/>
          <a:ln/>
        </p:spPr>
        <p:txBody>
          <a:bodyPr wrap="square" lIns="0" tIns="0" rIns="0" bIns="107728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2828" b="1" dirty="0">
                <a:solidFill>
                  <a:srgbClr val="F263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Aufbau einer GTIN-13</a:t>
            </a:r>
            <a:endParaRPr lang="en-US" sz="2828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7713" y="2409676"/>
          <a:ext cx="5187851" cy="914400"/>
        </p:xfrm>
        <a:graphic>
          <a:graphicData uri="http://schemas.openxmlformats.org/drawingml/2006/table">
            <a:tbl>
              <a:tblPr/>
              <a:tblGrid>
                <a:gridCol w="2870359"/>
                <a:gridCol w="1150144"/>
                <a:gridCol w="1420177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75" b="1" dirty="0">
                          <a:solidFill>
                            <a:srgbClr val="1F23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Bestandteil</a:t>
                      </a:r>
                      <a:endParaRPr lang="en-US" sz="1200" dirty="0"/>
                    </a:p>
                  </a:txBody>
                  <a:tcPr marL="123825" marR="123825" marT="57150" marB="57150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75" b="1" dirty="0">
                          <a:solidFill>
                            <a:srgbClr val="1F23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Stellen</a:t>
                      </a:r>
                      <a:endParaRPr lang="en-US" sz="1200" dirty="0"/>
                    </a:p>
                  </a:txBody>
                  <a:tcPr marL="123825" marR="123825" marT="57150" marB="57150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75" b="1" dirty="0">
                          <a:solidFill>
                            <a:srgbClr val="1F23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Beispiel</a:t>
                      </a:r>
                      <a:endParaRPr lang="en-US" sz="1200" dirty="0"/>
                    </a:p>
                  </a:txBody>
                  <a:tcPr marL="123825" marR="123825" marT="57150" marB="57150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75" dirty="0">
                          <a:solidFill>
                            <a:srgbClr val="1F23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GS1 Company Prefix</a:t>
                      </a:r>
                      <a:endParaRPr lang="en-US" sz="1200" dirty="0"/>
                    </a:p>
                  </a:txBody>
                  <a:tcPr marL="123825" marR="123825" marT="57150" marB="57150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75" dirty="0">
                          <a:solidFill>
                            <a:srgbClr val="1F23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6–12</a:t>
                      </a:r>
                      <a:endParaRPr lang="en-US" sz="1200" dirty="0"/>
                    </a:p>
                  </a:txBody>
                  <a:tcPr marL="123825" marR="123825" marT="57150" marB="57150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49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4012345</a:t>
                      </a:r>
                      <a:endParaRPr lang="en-US" sz="1200" dirty="0"/>
                    </a:p>
                  </a:txBody>
                  <a:tcPr marL="123825" marR="123825" marT="57150" marB="57150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75" dirty="0">
                          <a:solidFill>
                            <a:srgbClr val="1F23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Artikelreferenz</a:t>
                      </a:r>
                      <a:endParaRPr lang="en-US" sz="1200" dirty="0"/>
                    </a:p>
                  </a:txBody>
                  <a:tcPr marL="123825" marR="123825" marT="57150" marB="57150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75" dirty="0">
                          <a:solidFill>
                            <a:srgbClr val="1F23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0–6</a:t>
                      </a:r>
                      <a:endParaRPr lang="en-US" sz="1200" dirty="0"/>
                    </a:p>
                  </a:txBody>
                  <a:tcPr marL="123825" marR="123825" marT="57150" marB="57150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49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77777</a:t>
                      </a:r>
                      <a:endParaRPr lang="en-US" sz="1200" dirty="0"/>
                    </a:p>
                  </a:txBody>
                  <a:tcPr marL="123825" marR="123825" marT="57150" marB="57150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75" dirty="0">
                          <a:solidFill>
                            <a:srgbClr val="1F23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Prüfziffer</a:t>
                      </a:r>
                      <a:endParaRPr lang="en-US" sz="1200" dirty="0"/>
                    </a:p>
                  </a:txBody>
                  <a:tcPr marL="123825" marR="123825" marT="57150" marB="57150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75" dirty="0">
                          <a:solidFill>
                            <a:srgbClr val="1F23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123825" marR="123825" marT="57150" marB="57150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49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123825" marR="123825" marT="57150" marB="57150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747713" y="4669036"/>
            <a:ext cx="11231404" cy="418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175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Ergebnis:</a:t>
            </a:r>
            <a:pPr algn="l" indent="0" marL="0">
              <a:lnSpc>
                <a:spcPct val="130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pPr algn="l" indent="0" marL="0">
              <a:lnSpc>
                <a:spcPct val="130000"/>
              </a:lnSpc>
              <a:buNone/>
            </a:pPr>
            <a:r>
              <a:rPr lang="en-US" sz="1849" dirty="0">
                <a:solidFill>
                  <a:srgbClr val="1F2328"/>
                </a:solidFill>
                <a:highlight>
                  <a:srgbClr val="F0F1F3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402345777775</a:t>
            </a:r>
            <a:endParaRPr lang="en-US" sz="217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6343650"/>
            <a:ext cx="118110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350">
                <a:solidFill>
                  <a:srgbClr val="7777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7713" y="2097345"/>
            <a:ext cx="11291888" cy="556468"/>
          </a:xfrm>
          <a:prstGeom prst="rect">
            <a:avLst/>
          </a:prstGeom>
          <a:noFill/>
          <a:ln/>
        </p:spPr>
        <p:txBody>
          <a:bodyPr wrap="square" lIns="0" tIns="0" rIns="0" bIns="107728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2828" b="1" dirty="0">
                <a:solidFill>
                  <a:srgbClr val="F263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 begegnet uns die GTIN?</a:t>
            </a:r>
            <a:endParaRPr lang="en-US" sz="2828" dirty="0"/>
          </a:p>
        </p:txBody>
      </p:sp>
      <p:sp>
        <p:nvSpPr>
          <p:cNvPr id="3" name="Text 1"/>
          <p:cNvSpPr/>
          <p:nvPr/>
        </p:nvSpPr>
        <p:spPr>
          <a:xfrm>
            <a:off x="747713" y="2782044"/>
            <a:ext cx="10696575" cy="1933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🛒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Supermarktkasse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– EAN-13-Barcode auf jedem Produkt</a:t>
            </a:r>
            <a:endParaRPr lang="en-US" sz="2175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📦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Logistik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– GTIN-14 auf Versandkartons</a:t>
            </a:r>
            <a:endParaRPr lang="en-US" sz="2175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🌐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E-Commerce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– Produktidentifikation bei Amazon, Google Shopping</a:t>
            </a:r>
            <a:endParaRPr lang="en-US" sz="2175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🏥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Gesundheitswesen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– Eindeutige Identifikation von Medizinprodukten</a:t>
            </a:r>
            <a:endParaRPr lang="en-US" sz="217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6343650"/>
            <a:ext cx="118110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350">
                <a:solidFill>
                  <a:srgbClr val="7777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7713" y="1698486"/>
            <a:ext cx="11291888" cy="556468"/>
          </a:xfrm>
          <a:prstGeom prst="rect">
            <a:avLst/>
          </a:prstGeom>
          <a:noFill/>
          <a:ln/>
        </p:spPr>
        <p:txBody>
          <a:bodyPr wrap="square" lIns="0" tIns="0" rIns="0" bIns="107728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2828" b="1" dirty="0">
                <a:solidFill>
                  <a:srgbClr val="F263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GTIN vs. Barcode</a:t>
            </a:r>
            <a:endParaRPr lang="en-US" sz="2828" dirty="0"/>
          </a:p>
        </p:txBody>
      </p:sp>
      <p:sp>
        <p:nvSpPr>
          <p:cNvPr id="3" name="Text 1"/>
          <p:cNvSpPr/>
          <p:nvPr/>
        </p:nvSpPr>
        <p:spPr>
          <a:xfrm>
            <a:off x="747713" y="2383185"/>
            <a:ext cx="10696575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Die GTIN ist der </a:t>
            </a:r>
            <a:pPr algn="l" indent="0" marL="0">
              <a:lnSpc>
                <a:spcPct val="130000"/>
              </a:lnSpc>
              <a:buNone/>
            </a:pPr>
            <a:r>
              <a:rPr lang="en-US" sz="2175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Identifikationsschlüssel</a:t>
            </a:r>
            <a:pPr algn="l" indent="0" marL="0">
              <a:lnSpc>
                <a:spcPct val="130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nicht der </a:t>
            </a:r>
            <a:pPr algn="l" indent="0" marL="0">
              <a:lnSpc>
                <a:spcPct val="130000"/>
              </a:lnSpc>
              <a:buNone/>
            </a:pPr>
            <a:r>
              <a:rPr lang="en-US" sz="2175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Datenträger</a:t>
            </a:r>
            <a:pPr algn="l" indent="0" marL="0">
              <a:lnSpc>
                <a:spcPct val="130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pPr algn="l" indent="0" marL="0">
              <a:lnSpc>
                <a:spcPct val="130000"/>
              </a:lnSpc>
              <a:buNone/>
            </a:pPr>
            <a:endParaRPr lang="en-US" sz="2175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Hier sehen Sie die GTIN, kodiert in einem EAN-13-Barcode:</a:t>
            </a:r>
            <a:endParaRPr lang="en-US" sz="2175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713" y="3585716"/>
            <a:ext cx="2740372" cy="14287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6343650"/>
            <a:ext cx="118110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350">
                <a:solidFill>
                  <a:srgbClr val="7777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7713" y="729317"/>
            <a:ext cx="11291888" cy="556468"/>
          </a:xfrm>
          <a:prstGeom prst="rect">
            <a:avLst/>
          </a:prstGeom>
          <a:noFill/>
          <a:ln/>
        </p:spPr>
        <p:txBody>
          <a:bodyPr wrap="square" lIns="0" tIns="0" rIns="0" bIns="107728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2828" b="1" dirty="0">
                <a:solidFill>
                  <a:srgbClr val="F263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GTIN in QR Codes Powered by GS1</a:t>
            </a:r>
            <a:endParaRPr lang="en-US" sz="2828" dirty="0"/>
          </a:p>
        </p:txBody>
      </p:sp>
      <p:sp>
        <p:nvSpPr>
          <p:cNvPr id="3" name="Text 1"/>
          <p:cNvSpPr/>
          <p:nvPr/>
        </p:nvSpPr>
        <p:spPr>
          <a:xfrm>
            <a:off x="747713" y="1414016"/>
            <a:ext cx="10696575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 2028 kann die GTIN in eine Webadresse eingebettet werden – so erhalten Ihre Kunden direkten Zugang zu produktbezogenen Informationen.</a:t>
            </a:r>
            <a:endParaRPr lang="en-US" sz="2175" dirty="0"/>
          </a:p>
        </p:txBody>
      </p:sp>
      <p:sp>
        <p:nvSpPr>
          <p:cNvPr id="4" name="Text 2"/>
          <p:cNvSpPr/>
          <p:nvPr/>
        </p:nvSpPr>
        <p:spPr>
          <a:xfrm>
            <a:off x="747713" y="2395091"/>
            <a:ext cx="10696575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 Beispiel derselben GTIN wie zuvor: Diese erscheint nun in einem sogenannten</a:t>
            </a:r>
            <a:pPr algn="l" indent="0" marL="0">
              <a:lnSpc>
                <a:spcPct val="125000"/>
              </a:lnSpc>
              <a:buNone/>
            </a:pPr>
            <a:endParaRPr lang="en-US" sz="2175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2175" i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GS1 Digital Link URI</a:t>
            </a:r>
            <a:pPr algn="l" indent="0" marL="0">
              <a:lnSpc>
                <a:spcPct val="125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und wird in einem QR-Code kodiert:</a:t>
            </a:r>
            <a:endParaRPr lang="en-US" sz="2175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713" y="3445222"/>
            <a:ext cx="952500" cy="9525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7713" y="4581079"/>
            <a:ext cx="11231404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Kodierter Inhalt:</a:t>
            </a:r>
            <a:endParaRPr lang="en-US" sz="2175" dirty="0"/>
          </a:p>
        </p:txBody>
      </p:sp>
      <p:sp>
        <p:nvSpPr>
          <p:cNvPr id="7" name="Text 4"/>
          <p:cNvSpPr/>
          <p:nvPr/>
        </p:nvSpPr>
        <p:spPr>
          <a:xfrm>
            <a:off x="747713" y="5216872"/>
            <a:ext cx="10696575" cy="866775"/>
          </a:xfrm>
          <a:prstGeom prst="rect">
            <a:avLst/>
          </a:prstGeom>
          <a:solidFill>
            <a:srgbClr val="F6F8FA"/>
          </a:solidFill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283" dirty="0">
                <a:solidFill>
                  <a:srgbClr val="1F23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https://id.gs1.de/01/04012345999969</a:t>
            </a:r>
            <a:pPr indent="0" marL="0">
              <a:buNone/>
            </a:pPr>
            <a:endParaRPr lang="en-US" sz="1283" dirty="0"/>
          </a:p>
          <a:p>
            <a:pPr indent="0" marL="0">
              <a:buNone/>
            </a:pPr>
            <a:endParaRPr lang="en-US" sz="1283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6343650"/>
            <a:ext cx="118110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350">
                <a:solidFill>
                  <a:srgbClr val="7777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7713" y="2200930"/>
            <a:ext cx="11291888" cy="556468"/>
          </a:xfrm>
          <a:prstGeom prst="rect">
            <a:avLst/>
          </a:prstGeom>
          <a:noFill/>
          <a:ln/>
        </p:spPr>
        <p:txBody>
          <a:bodyPr wrap="square" lIns="0" tIns="0" rIns="0" bIns="107728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2828" b="1" dirty="0">
                <a:solidFill>
                  <a:srgbClr val="F263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Zusammenfassung</a:t>
            </a:r>
            <a:endParaRPr lang="en-US" sz="2828" dirty="0"/>
          </a:p>
        </p:txBody>
      </p:sp>
      <p:sp>
        <p:nvSpPr>
          <p:cNvPr id="3" name="Text 1"/>
          <p:cNvSpPr/>
          <p:nvPr/>
        </p:nvSpPr>
        <p:spPr>
          <a:xfrm>
            <a:off x="747713" y="2885629"/>
            <a:ext cx="10696575" cy="165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</a:t>
            </a:r>
            <a:pPr algn="l" indent="0" marL="0">
              <a:lnSpc>
                <a:spcPct val="125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GTIN = weltweit eindeutiger Artikelschlüssel</a:t>
            </a:r>
            <a:pPr algn="l" indent="0" marL="0">
              <a:lnSpc>
                <a:spcPct val="125000"/>
              </a:lnSpc>
              <a:buNone/>
            </a:pPr>
            <a:endParaRPr lang="en-US" sz="2175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</a:t>
            </a:r>
            <a:pPr algn="l" indent="0" marL="0">
              <a:lnSpc>
                <a:spcPct val="125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Vergabe über GS1 Company Prefix</a:t>
            </a:r>
            <a:pPr algn="l" indent="0" marL="0">
              <a:lnSpc>
                <a:spcPct val="125000"/>
              </a:lnSpc>
              <a:buNone/>
            </a:pPr>
            <a:endParaRPr lang="en-US" sz="2175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</a:t>
            </a:r>
            <a:pPr algn="l" indent="0" marL="0">
              <a:lnSpc>
                <a:spcPct val="125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Einsatz in </a:t>
            </a:r>
            <a:pPr algn="l" indent="0" marL="0">
              <a:lnSpc>
                <a:spcPct val="125000"/>
              </a:lnSpc>
              <a:buNone/>
            </a:pPr>
            <a:r>
              <a:rPr lang="en-US" sz="2175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allen</a:t>
            </a:r>
            <a:pPr algn="l" indent="0" marL="0">
              <a:lnSpc>
                <a:spcPct val="125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Branchen und Kanälen</a:t>
            </a:r>
            <a:pPr algn="l" indent="0" marL="0">
              <a:lnSpc>
                <a:spcPct val="125000"/>
              </a:lnSpc>
              <a:buNone/>
            </a:pPr>
            <a:endParaRPr lang="en-US" sz="2175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</a:t>
            </a:r>
            <a:pPr algn="l" indent="0" marL="0">
              <a:lnSpc>
                <a:spcPct val="125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Grundlage für Barcode, QR-Code und GS1 Digital Link</a:t>
            </a:r>
            <a:endParaRPr lang="en-US" sz="217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6343650"/>
            <a:ext cx="118110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350">
                <a:solidFill>
                  <a:srgbClr val="7777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7713" y="2539067"/>
            <a:ext cx="11291888" cy="556468"/>
          </a:xfrm>
          <a:prstGeom prst="rect">
            <a:avLst/>
          </a:prstGeom>
          <a:noFill/>
          <a:ln/>
        </p:spPr>
        <p:txBody>
          <a:bodyPr wrap="square" lIns="0" tIns="0" rIns="0" bIns="107728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2828" b="1" dirty="0">
                <a:solidFill>
                  <a:srgbClr val="F263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Nächstes Modul</a:t>
            </a:r>
            <a:endParaRPr lang="en-US" sz="2828" dirty="0"/>
          </a:p>
        </p:txBody>
      </p:sp>
      <p:sp>
        <p:nvSpPr>
          <p:cNvPr id="3" name="Text 1"/>
          <p:cNvSpPr/>
          <p:nvPr/>
        </p:nvSpPr>
        <p:spPr>
          <a:xfrm>
            <a:off x="747713" y="3223766"/>
            <a:ext cx="10696575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175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 2:</a:t>
            </a:r>
            <a:pPr algn="l" indent="0" marL="0">
              <a:lnSpc>
                <a:spcPct val="130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Der GS1 Digital Link – vom Barcode zur URL</a:t>
            </a:r>
            <a:pPr algn="l" indent="0" marL="0">
              <a:lnSpc>
                <a:spcPct val="130000"/>
              </a:lnSpc>
              <a:buNone/>
            </a:pPr>
            <a:endParaRPr lang="en-US" sz="2175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175" i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Fragen? → streaming@example.example</a:t>
            </a:r>
            <a:pPr algn="l" indent="0" marL="0">
              <a:lnSpc>
                <a:spcPct val="130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</a:t>
            </a:r>
            <a:endParaRPr lang="en-US" sz="217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6343650"/>
            <a:ext cx="118110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350">
                <a:solidFill>
                  <a:srgbClr val="7777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2026-06-18T08:06:03Z</dcterms:created>
  <dcterms:modified xsi:type="dcterms:W3CDTF">2026-06-18T08:06:03Z</dcterms:modified>
</cp:coreProperties>
</file>